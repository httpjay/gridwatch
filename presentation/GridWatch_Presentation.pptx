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56032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29184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402336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475488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36576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109728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182880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256032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329184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402336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475488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36576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109728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0" y="182880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4560" y="256032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329184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4560" y="402336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4560" y="475488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36576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109728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7520" y="182880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17520" y="256032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17520" y="329184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17520" y="402336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17520" y="475488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0" y="36576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0" y="109728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0480" y="182880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0" y="256032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0" y="329184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402336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0" y="475488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6576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109728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182880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256032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29184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402336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475488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0" y="36576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0" y="109728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0" y="182880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0" y="256032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0" y="402336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0" y="475488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9360" y="36576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09360" y="109728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09360" y="182880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09360" y="256032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09360" y="329184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09360" y="402336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09360" y="475488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132320" y="36576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132320" y="109728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32320" y="182880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32320" y="256032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32320" y="329184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132320" y="402336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32320" y="475488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955280" y="36576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55280" y="109728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955280" y="182880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955280" y="256032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55280" y="329184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955280" y="402336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955280" y="475488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0" y="36576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778240" y="109728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778240" y="182880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778240" y="256032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778240" y="329184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778240" y="402336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778240" y="4754880"/>
            <a:ext cx="36576" cy="36576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>
                <a:alpha val="25000"/>
              </a:srgbClr>
            </a:solidFill>
            <a:prstDash val="solid"/>
          </a:ln>
        </p:spPr>
      </p:sp>
      <p:pic>
        <p:nvPicPr>
          <p:cNvPr id="80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5852160" y="457200"/>
            <a:ext cx="2834640" cy="2834640"/>
          </a:xfrm>
          <a:prstGeom prst="rect">
            <a:avLst/>
          </a:prstGeom>
        </p:spPr>
      </p:pic>
      <p:sp>
        <p:nvSpPr>
          <p:cNvPr id="81" name="Text 78"/>
          <p:cNvSpPr/>
          <p:nvPr/>
        </p:nvSpPr>
        <p:spPr>
          <a:xfrm>
            <a:off x="365760" y="11887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endParaRPr lang="en-US" sz="6400" dirty="0"/>
          </a:p>
        </p:txBody>
      </p:sp>
      <p:sp>
        <p:nvSpPr>
          <p:cNvPr id="82" name="Text 79"/>
          <p:cNvSpPr/>
          <p:nvPr/>
        </p:nvSpPr>
        <p:spPr>
          <a:xfrm>
            <a:off x="365760" y="20116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6400" dirty="0"/>
          </a:p>
        </p:txBody>
      </p:sp>
      <p:sp>
        <p:nvSpPr>
          <p:cNvPr id="83" name="Text 80"/>
          <p:cNvSpPr/>
          <p:nvPr/>
        </p:nvSpPr>
        <p:spPr>
          <a:xfrm>
            <a:off x="365760" y="3108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Energy Poverty Detection for California</a:t>
            </a:r>
            <a:endParaRPr lang="en-US" sz="1700" dirty="0"/>
          </a:p>
        </p:txBody>
      </p:sp>
      <p:sp>
        <p:nvSpPr>
          <p:cNvPr id="84" name="Shape 81"/>
          <p:cNvSpPr/>
          <p:nvPr/>
        </p:nvSpPr>
        <p:spPr>
          <a:xfrm>
            <a:off x="109728" y="4617720"/>
            <a:ext cx="9034272" cy="525780"/>
          </a:xfrm>
          <a:prstGeom prst="rect">
            <a:avLst/>
          </a:prstGeom>
          <a:solidFill>
            <a:srgbClr val="122040"/>
          </a:solidFill>
          <a:ln/>
        </p:spPr>
      </p:sp>
      <p:sp>
        <p:nvSpPr>
          <p:cNvPr id="85" name="Text 82"/>
          <p:cNvSpPr/>
          <p:nvPr/>
        </p:nvSpPr>
        <p:spPr>
          <a:xfrm>
            <a:off x="365760" y="4645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Risk · Explaining Why · Recommending Action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Poverty Is a Silent Crisis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06040" cy="2514600"/>
          </a:xfrm>
          <a:prstGeom prst="rect">
            <a:avLst/>
          </a:prstGeom>
          <a:solidFill>
            <a:srgbClr val="1522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2606040" cy="64008"/>
          </a:xfrm>
          <a:prstGeom prst="rect">
            <a:avLst/>
          </a:prstGeom>
          <a:solidFill>
            <a:srgbClr val="E8485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57276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488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30M+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57200" y="285292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households struggle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pay energy bills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0" y="1417320"/>
            <a:ext cx="2606040" cy="2514600"/>
          </a:xfrm>
          <a:prstGeom prst="rect">
            <a:avLst/>
          </a:prstGeom>
          <a:solidFill>
            <a:srgbClr val="1522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417320"/>
            <a:ext cx="2606040" cy="64008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572768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1488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8–10%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3291840" y="285292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income spent on energy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low-income families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1417320"/>
            <a:ext cx="2606040" cy="2514600"/>
          </a:xfrm>
          <a:prstGeom prst="rect">
            <a:avLst/>
          </a:prstGeom>
          <a:solidFill>
            <a:srgbClr val="1522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35040" y="1417320"/>
            <a:ext cx="2606040" cy="64008"/>
          </a:xfrm>
          <a:prstGeom prst="rect">
            <a:avLst/>
          </a:prstGeom>
          <a:solidFill>
            <a:srgbClr val="00C9B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72768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21488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800" dirty="0"/>
          </a:p>
        </p:txBody>
      </p:sp>
      <p:sp>
        <p:nvSpPr>
          <p:cNvPr id="18" name="Text 13"/>
          <p:cNvSpPr/>
          <p:nvPr/>
        </p:nvSpPr>
        <p:spPr>
          <a:xfrm>
            <a:off x="6126480" y="285292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energy burden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wealthier households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365760" y="4114800"/>
            <a:ext cx="8412480" cy="749808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" y="4114800"/>
            <a:ext cx="54864" cy="7498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6"/>
          <p:cNvSpPr/>
          <p:nvPr/>
        </p:nvSpPr>
        <p:spPr>
          <a:xfrm>
            <a:off x="548640" y="41605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data, there is NO unified, city-level tool that tells policymakers: who is at risk, why, and what to do about it.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GridWatch Does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2697480" cy="3291840"/>
          </a:xfrm>
          <a:prstGeom prst="rect">
            <a:avLst/>
          </a:prstGeom>
          <a:solidFill>
            <a:srgbClr val="1522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087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715768"/>
            <a:ext cx="2423160" cy="27432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816352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(XGBoost) analyzes household income, energy costs &amp; temperature forecasts to classify cities as HIGH or LOW risk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697480" cy="3291840"/>
          </a:xfrm>
          <a:prstGeom prst="rect">
            <a:avLst/>
          </a:prstGeom>
          <a:solidFill>
            <a:srgbClr val="1522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5087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337560" y="22860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37560" y="2715768"/>
            <a:ext cx="242316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2816352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itemize exactly why a city is at risk — what factors drive the score, like a receipt for the model's decision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97480" cy="3291840"/>
          </a:xfrm>
          <a:prstGeom prst="rect">
            <a:avLst/>
          </a:prstGeom>
          <a:solidFill>
            <a:srgbClr val="1522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5087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217920" y="22860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2715768"/>
            <a:ext cx="2423160" cy="27432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816352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retrieves real LIHEAP, CARE/FERA, ESA policy documents and generates grounded, city-specific recommendations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897880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Technology Used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069080" cy="1600200"/>
          </a:xfrm>
          <a:prstGeom prst="rect">
            <a:avLst/>
          </a:prstGeom>
          <a:solidFill>
            <a:srgbClr val="1522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54864" cy="1600200"/>
          </a:xfrm>
          <a:prstGeom prst="rect">
            <a:avLst/>
          </a:prstGeom>
          <a:solidFill>
            <a:srgbClr val="E8485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53619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4128" y="17647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24128" y="20939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0352" y="236829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California city-level data to classify HIGH / LOW energy poverty risk. Produces interpretable probability scores.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417320"/>
            <a:ext cx="4069080" cy="1600200"/>
          </a:xfrm>
          <a:prstGeom prst="rect">
            <a:avLst/>
          </a:prstGeom>
          <a:solidFill>
            <a:srgbClr val="1522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417320"/>
            <a:ext cx="54864" cy="160020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53619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13248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413248" y="17647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5413248" y="20939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Additive exPlanations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919472" y="236829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black box — breaks down each prediction into per-feature contribution values so every result is transparent and defensible.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65760" y="3246120"/>
            <a:ext cx="4069080" cy="1600200"/>
          </a:xfrm>
          <a:prstGeom prst="rect">
            <a:avLst/>
          </a:prstGeom>
          <a:solidFill>
            <a:srgbClr val="1522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3246120"/>
            <a:ext cx="54864" cy="1600200"/>
          </a:xfrm>
          <a:prstGeom prst="rect">
            <a:avLst/>
          </a:prstGeom>
          <a:solidFill>
            <a:srgbClr val="00C9B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364992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24128" y="3337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24128" y="35935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1024128" y="39227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+ FAISS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30352" y="419709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policy documents (LIHEAP, CARE/FERA, ESA, WAP) into a vector index. Retrieves top-k relevant chunks before generating answers.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754880" y="3246120"/>
            <a:ext cx="4069080" cy="1600200"/>
          </a:xfrm>
          <a:prstGeom prst="rect">
            <a:avLst/>
          </a:prstGeom>
          <a:solidFill>
            <a:srgbClr val="1522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754880" y="3246120"/>
            <a:ext cx="54864" cy="1600200"/>
          </a:xfrm>
          <a:prstGeom prst="rect">
            <a:avLst/>
          </a:prstGeom>
          <a:solidFill>
            <a:srgbClr val="7C6FCD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364992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13248" y="3337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5413248" y="35935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GPT</a:t>
            </a:r>
            <a:endParaRPr lang="en-US" sz="1900" dirty="0"/>
          </a:p>
        </p:txBody>
      </p:sp>
      <p:sp>
        <p:nvSpPr>
          <p:cNvPr id="30" name="Text 24"/>
          <p:cNvSpPr/>
          <p:nvPr/>
        </p:nvSpPr>
        <p:spPr>
          <a:xfrm>
            <a:off x="5413248" y="39227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Reasoning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919472" y="419709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reasons step-by-step using retrieved policy chunks — not general knowledge. Shows its logic and cites sources in every response.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Powers GridWatch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3977640" cy="41148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4173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DATASETS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417320"/>
            <a:ext cx="4069080" cy="4114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4173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DOCUMENTS (RAG)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3977640" cy="594360"/>
          </a:xfrm>
          <a:prstGeom prst="rect">
            <a:avLst/>
          </a:prstGeom>
          <a:solidFill>
            <a:srgbClr val="152236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920240"/>
            <a:ext cx="54864" cy="59436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9568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Census Bureau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2212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household income by city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920240"/>
            <a:ext cx="4069080" cy="594360"/>
          </a:xfrm>
          <a:prstGeom prst="rect">
            <a:avLst/>
          </a:prstGeom>
          <a:solidFill>
            <a:srgbClr val="152236"/>
          </a:solidFill>
          <a:ln/>
        </p:spPr>
      </p:sp>
      <p:sp>
        <p:nvSpPr>
          <p:cNvPr id="13" name="Shape 11"/>
          <p:cNvSpPr/>
          <p:nvPr/>
        </p:nvSpPr>
        <p:spPr>
          <a:xfrm>
            <a:off x="4709160" y="1920240"/>
            <a:ext cx="54864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4873752" y="19568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LIHEAP Guidelines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73752" y="2212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low-income energy assistance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633472"/>
            <a:ext cx="3977640" cy="594360"/>
          </a:xfrm>
          <a:prstGeom prst="rect">
            <a:avLst/>
          </a:prstGeom>
          <a:solidFill>
            <a:srgbClr val="152236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633472"/>
            <a:ext cx="54864" cy="59436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6700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 (Energy Info. Agency)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2926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residential energy costs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633472"/>
            <a:ext cx="4069080" cy="594360"/>
          </a:xfrm>
          <a:prstGeom prst="rect">
            <a:avLst/>
          </a:prstGeom>
          <a:solidFill>
            <a:srgbClr val="152236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2633472"/>
            <a:ext cx="54864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4873752" y="26700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/ FERA Program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73752" y="2926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utility discounts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346704"/>
            <a:ext cx="3977640" cy="594360"/>
          </a:xfrm>
          <a:prstGeom prst="rect">
            <a:avLst/>
          </a:prstGeom>
          <a:solidFill>
            <a:srgbClr val="152236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3346704"/>
            <a:ext cx="54864" cy="59436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3383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/ Weather APIs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" y="3639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forecasts (min/max)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346704"/>
            <a:ext cx="4069080" cy="594360"/>
          </a:xfrm>
          <a:prstGeom prst="rect">
            <a:avLst/>
          </a:prstGeom>
          <a:solidFill>
            <a:srgbClr val="152236"/>
          </a:solidFill>
          <a:ln/>
        </p:spPr>
      </p:sp>
      <p:sp>
        <p:nvSpPr>
          <p:cNvPr id="29" name="Shape 27"/>
          <p:cNvSpPr/>
          <p:nvPr/>
        </p:nvSpPr>
        <p:spPr>
          <a:xfrm>
            <a:off x="4709160" y="3346704"/>
            <a:ext cx="54864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4873752" y="3383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Program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73752" y="3639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savings assistance rules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59936"/>
            <a:ext cx="3977640" cy="594360"/>
          </a:xfrm>
          <a:prstGeom prst="rect">
            <a:avLst/>
          </a:prstGeom>
          <a:solidFill>
            <a:srgbClr val="152236"/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4059936"/>
            <a:ext cx="54864" cy="59436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" y="4096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ACEEE / DOE Reports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0352" y="43525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energy burden rates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4059936"/>
            <a:ext cx="4069080" cy="594360"/>
          </a:xfrm>
          <a:prstGeom prst="rect">
            <a:avLst/>
          </a:prstGeom>
          <a:solidFill>
            <a:srgbClr val="152236"/>
          </a:solidFill>
          <a:ln/>
        </p:spPr>
      </p:sp>
      <p:sp>
        <p:nvSpPr>
          <p:cNvPr id="37" name="Shape 35"/>
          <p:cNvSpPr/>
          <p:nvPr/>
        </p:nvSpPr>
        <p:spPr>
          <a:xfrm>
            <a:off x="4709160" y="4059936"/>
            <a:ext cx="54864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8" name="Text 36"/>
          <p:cNvSpPr/>
          <p:nvPr/>
        </p:nvSpPr>
        <p:spPr>
          <a:xfrm>
            <a:off x="4873752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 Guidelines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73752" y="43525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Weatherization assistance program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50292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5800" dirty="0"/>
          </a:p>
        </p:txBody>
      </p:sp>
      <p:sp>
        <p:nvSpPr>
          <p:cNvPr id="5" name="Shape 2"/>
          <p:cNvSpPr/>
          <p:nvPr/>
        </p:nvSpPr>
        <p:spPr>
          <a:xfrm>
            <a:off x="1417320" y="3383280"/>
            <a:ext cx="347472" cy="347472"/>
          </a:xfrm>
          <a:prstGeom prst="ellipse">
            <a:avLst/>
          </a:prstGeom>
          <a:solidFill>
            <a:srgbClr val="00C9B1"/>
          </a:solidFill>
          <a:ln/>
        </p:spPr>
      </p:sp>
      <p:sp>
        <p:nvSpPr>
          <p:cNvPr id="6" name="Text 3"/>
          <p:cNvSpPr/>
          <p:nvPr/>
        </p:nvSpPr>
        <p:spPr>
          <a:xfrm>
            <a:off x="141732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3794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California city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60520" y="3383280"/>
            <a:ext cx="347472" cy="347472"/>
          </a:xfrm>
          <a:prstGeom prst="ellipse">
            <a:avLst/>
          </a:prstGeom>
          <a:solidFill>
            <a:srgbClr val="00C9B1"/>
          </a:solidFill>
          <a:ln/>
        </p:spPr>
      </p:sp>
      <p:sp>
        <p:nvSpPr>
          <p:cNvPr id="9" name="Text 6"/>
          <p:cNvSpPr/>
          <p:nvPr/>
        </p:nvSpPr>
        <p:spPr>
          <a:xfrm>
            <a:off x="416052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337560" y="3794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HIGH / LOW risk + SHAP drivers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903720" y="3383280"/>
            <a:ext cx="347472" cy="347472"/>
          </a:xfrm>
          <a:prstGeom prst="ellipse">
            <a:avLst/>
          </a:prstGeom>
          <a:solidFill>
            <a:srgbClr val="00C9B1"/>
          </a:solidFill>
          <a:ln/>
        </p:spPr>
      </p:sp>
      <p:sp>
        <p:nvSpPr>
          <p:cNvPr id="12" name="Text 9"/>
          <p:cNvSpPr/>
          <p:nvPr/>
        </p:nvSpPr>
        <p:spPr>
          <a:xfrm>
            <a:off x="690372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080760" y="3794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policy question → RAG answer with sources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737360" y="3557016"/>
            <a:ext cx="1645920" cy="0"/>
          </a:xfrm>
          <a:prstGeom prst="line">
            <a:avLst/>
          </a:prstGeom>
          <a:noFill/>
          <a:ln w="12700">
            <a:solidFill>
              <a:srgbClr val="8FA3B1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4480560" y="3557016"/>
            <a:ext cx="1645920" cy="0"/>
          </a:xfrm>
          <a:prstGeom prst="line">
            <a:avLst/>
          </a:prstGeom>
          <a:noFill/>
          <a:ln w="12700">
            <a:solidFill>
              <a:srgbClr val="8FA3B1"/>
            </a:solidFill>
            <a:prstDash val="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GridWatch</dc:title>
  <dc:subject>PptxGenJS Presentation</dc:subject>
  <dc:creator>PptxGenJS</dc:creator>
  <cp:lastModifiedBy>PptxGenJS</cp:lastModifiedBy>
  <cp:revision>1</cp:revision>
  <dcterms:created xsi:type="dcterms:W3CDTF">2026-04-28T16:59:10Z</dcterms:created>
  <dcterms:modified xsi:type="dcterms:W3CDTF">2026-04-28T16:59:10Z</dcterms:modified>
</cp:coreProperties>
</file>