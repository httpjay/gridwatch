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6925ae7cd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e6925ae7cd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e6925ae7cd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6925ae7cd_2_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e6925ae7cd_2_1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e6925ae7cd_2_1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9.png"/><Relationship Id="rId7" Type="http://schemas.openxmlformats.org/officeDocument/2006/relationships/image" Target="../media/image12.jp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27432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" y="109728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192024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274320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200" y="356616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57200" y="438912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463040" y="27432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463040" y="109728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463040" y="192024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463040" y="274320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463040" y="356616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1463040" y="438912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2468880" y="27432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2468880" y="109728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2468880" y="192024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2468880" y="274320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2468880" y="356616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2468880" y="438912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3474720" y="27432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3474720" y="109728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3474720" y="192024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3474720" y="274320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3474720" y="356616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3474720" y="438912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4480560" y="27432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4480560" y="109728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4480560" y="192024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4480560" y="274320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4480560" y="356616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4480560" y="438912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5486400" y="27432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5486400" y="109728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5486400" y="192024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5486400" y="274320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5486400" y="356616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5486400" y="438912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6492240" y="27432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6492240" y="109728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6492240" y="192024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6492240" y="274320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6492240" y="356616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6492240" y="438912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7498080" y="27432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7498080" y="109728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7498080" y="192024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7498080" y="274320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7498080" y="356616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7498080" y="438912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8503920" y="27432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8503920" y="109728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8503920" y="192024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8503920" y="274320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8503920" y="356616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8503920" y="4389120"/>
            <a:ext cx="45720" cy="45720"/>
          </a:xfrm>
          <a:prstGeom prst="ellipse">
            <a:avLst/>
          </a:prstGeom>
          <a:solidFill>
            <a:srgbClr val="00D4B8">
              <a:alpha val="20000"/>
            </a:srgbClr>
          </a:solidFill>
          <a:ln cap="flat" cmpd="sng" w="12700">
            <a:solidFill>
              <a:srgbClr val="00D4B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3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>
            <a:off x="731520" y="45720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228600" y="2606040"/>
            <a:ext cx="2651760" cy="347472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228600" y="260604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F1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0F1E"/>
                </a:solidFill>
                <a:latin typeface="Calibri"/>
                <a:ea typeface="Calibri"/>
                <a:cs typeface="Calibri"/>
                <a:sym typeface="Calibri"/>
              </a:rPr>
              <a:t>GEN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28600" y="3017520"/>
            <a:ext cx="2834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Calibri"/>
              <a:buNone/>
            </a:pPr>
            <a:r>
              <a:rPr b="1" i="0" lang="en-US" sz="6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Grid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28600" y="3749040"/>
            <a:ext cx="2834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B8"/>
              </a:buClr>
              <a:buSzPts val="6200"/>
              <a:buFont typeface="Calibri"/>
              <a:buNone/>
            </a:pPr>
            <a:r>
              <a:rPr b="1" i="0" lang="en-US" sz="6200" u="none" cap="none" strike="noStrike">
                <a:solidFill>
                  <a:srgbClr val="00D4B8"/>
                </a:solidFill>
                <a:latin typeface="Calibri"/>
                <a:ea typeface="Calibri"/>
                <a:cs typeface="Calibri"/>
                <a:sym typeface="Calibri"/>
              </a:rPr>
              <a:t>Watch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657600" y="914400"/>
            <a:ext cx="5120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AI-Powered Energy Poverty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Detection &amp; Policy Advisor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657600" y="233172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A GenAI system that predicts which California cities are at HIGH risk of energy poverty, explains why using SHAP explainability, and recommends real assistance programs — grounded in actual policy documents via RAG.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657600" y="3840480"/>
            <a:ext cx="1600200" cy="347472"/>
          </a:xfrm>
          <a:prstGeom prst="rect">
            <a:avLst/>
          </a:prstGeom>
          <a:solidFill>
            <a:srgbClr val="FF4757">
              <a:alpha val="25098"/>
            </a:srgbClr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3657600" y="3840480"/>
            <a:ext cx="54864" cy="347472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3749040" y="384048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 · SHAP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394960" y="3840480"/>
            <a:ext cx="1600200" cy="347472"/>
          </a:xfrm>
          <a:prstGeom prst="rect">
            <a:avLst/>
          </a:prstGeom>
          <a:solidFill>
            <a:srgbClr val="00D4B8">
              <a:alpha val="25098"/>
            </a:srgbClr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5394960" y="3840480"/>
            <a:ext cx="54864" cy="347472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5486400" y="384048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· FAISS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132320" y="3840480"/>
            <a:ext cx="1600200" cy="347472"/>
          </a:xfrm>
          <a:prstGeom prst="rect">
            <a:avLst/>
          </a:prstGeom>
          <a:solidFill>
            <a:srgbClr val="8B5CF6">
              <a:alpha val="25098"/>
            </a:srgbClr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7132320" y="3840480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7223760" y="384048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Chain-of-Thought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437823" y="4229125"/>
            <a:ext cx="1148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By Jay A Panchal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09728" y="4617720"/>
            <a:ext cx="9034200" cy="525900"/>
          </a:xfrm>
          <a:prstGeom prst="rect">
            <a:avLst/>
          </a:prstGeom>
          <a:solidFill>
            <a:srgbClr val="122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365760" y="4645152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C9B1"/>
                </a:solidFill>
                <a:latin typeface="Calibri"/>
                <a:ea typeface="Calibri"/>
                <a:cs typeface="Calibri"/>
                <a:sym typeface="Calibri"/>
              </a:rPr>
              <a:t>Predicting Risk · Explaining Why · Recommending 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/>
          <p:nvPr/>
        </p:nvSpPr>
        <p:spPr>
          <a:xfrm>
            <a:off x="0" y="0"/>
            <a:ext cx="109800" cy="51435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548640" y="3657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548640" y="10972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548640" y="182880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548640" y="256032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548640" y="329184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548640" y="40233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548640" y="47548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1371600" y="3657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371600" y="10972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371600" y="182880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1371600" y="256032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1371600" y="329184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1371600" y="40233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1371600" y="47548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2194560" y="3657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2194560" y="10972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2194560" y="182880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2194560" y="256032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2194560" y="329184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2194560" y="40233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2194560" y="47548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3017520" y="3657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3017520" y="10972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3017520" y="182880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3017520" y="256032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3017520" y="329184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3017520" y="40233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3017520" y="47548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3840480" y="3657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3840480" y="10972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3840480" y="182880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3840480" y="256032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3840480" y="329184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3840480" y="40233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3840480" y="47548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4663440" y="3657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4663440" y="10972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4663440" y="182880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663440" y="256032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4663440" y="329184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663440" y="40233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4663440" y="47548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5486400" y="3657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5486400" y="10972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5486400" y="182880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5486400" y="256032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486400" y="329184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5486400" y="40233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5486400" y="47548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6309360" y="3657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6309360" y="10972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6309360" y="182880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6309360" y="256032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6309360" y="329184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6309360" y="40233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6309360" y="47548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7132320" y="3657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7132320" y="10972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7132320" y="182880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7132320" y="256032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7132320" y="329184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7132320" y="40233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7132320" y="47548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7955280" y="3657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7955280" y="10972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7955280" y="182880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7955280" y="256032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7955280" y="329184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7955280" y="40233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7955280" y="47548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8778240" y="3657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8778240" y="10972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8778240" y="182880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8778240" y="256032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8778240" y="329184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8778240" y="402336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8778240" y="4754880"/>
            <a:ext cx="36600" cy="36600"/>
          </a:xfrm>
          <a:prstGeom prst="ellipse">
            <a:avLst/>
          </a:prstGeom>
          <a:solidFill>
            <a:srgbClr val="00C9B1">
              <a:alpha val="25099"/>
            </a:srgbClr>
          </a:solidFill>
          <a:ln cap="flat" cmpd="sng" w="12700">
            <a:solidFill>
              <a:srgbClr val="00C9B1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4"/>
          <p:cNvPicPr preferRelativeResize="0"/>
          <p:nvPr/>
        </p:nvPicPr>
        <p:blipFill rotWithShape="1">
          <a:blip r:embed="rId3">
            <a:alphaModFix amt="18000"/>
          </a:blip>
          <a:srcRect b="0" l="0" r="0" t="0"/>
          <a:stretch/>
        </p:blipFill>
        <p:spPr>
          <a:xfrm>
            <a:off x="5852160" y="457200"/>
            <a:ext cx="2834641" cy="283464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"/>
          <p:cNvSpPr/>
          <p:nvPr/>
        </p:nvSpPr>
        <p:spPr>
          <a:xfrm>
            <a:off x="365760" y="1188720"/>
            <a:ext cx="4572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t/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365760" y="31089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7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4" title="bbc.png"/>
          <p:cNvPicPr preferRelativeResize="0"/>
          <p:nvPr/>
        </p:nvPicPr>
        <p:blipFill rotWithShape="1">
          <a:blip r:embed="rId4">
            <a:alphaModFix/>
          </a:blip>
          <a:srcRect b="5888" l="18076" r="18140" t="12453"/>
          <a:stretch/>
        </p:blipFill>
        <p:spPr>
          <a:xfrm>
            <a:off x="548650" y="365750"/>
            <a:ext cx="3301448" cy="2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4" title="Screenshot 2026-04-28 at 12.44.4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6051" y="1611599"/>
            <a:ext cx="3761352" cy="3015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4" title="Screenshot 2026-04-28 at 12.45.16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16900" y="85150"/>
            <a:ext cx="4711076" cy="174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4" title="protest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3475" y="2838075"/>
            <a:ext cx="3323602" cy="1869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4" title="Screenshot 2026-04-28 at 11.19.31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87774" y="1828800"/>
            <a:ext cx="2135524" cy="2661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E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Energy Poverty Is a Hidden Crisis Hiding in Plain Sight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320050" y="1325876"/>
            <a:ext cx="1993500" cy="2633100"/>
          </a:xfrm>
          <a:prstGeom prst="rect">
            <a:avLst/>
          </a:prstGeom>
          <a:solidFill>
            <a:srgbClr val="111E38"/>
          </a:solidFill>
          <a:ln>
            <a:noFill/>
          </a:ln>
          <a:effectLst>
            <a:outerShdw blurRad="1270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320040" y="1325880"/>
            <a:ext cx="1993392" cy="64008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5"/>
          <p:cNvSpPr/>
          <p:nvPr/>
        </p:nvSpPr>
        <p:spPr>
          <a:xfrm>
            <a:off x="411480" y="2075688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30M+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411480" y="28346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 Households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411480" y="3200400"/>
            <a:ext cx="1783080" cy="27432"/>
          </a:xfrm>
          <a:prstGeom prst="rect">
            <a:avLst/>
          </a:prstGeom>
          <a:solidFill>
            <a:srgbClr val="FF4757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411480" y="3273552"/>
            <a:ext cx="181051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struggle to pay energy bills each year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2468875" y="1325876"/>
            <a:ext cx="1993500" cy="2633100"/>
          </a:xfrm>
          <a:prstGeom prst="rect">
            <a:avLst/>
          </a:prstGeom>
          <a:solidFill>
            <a:srgbClr val="111E38"/>
          </a:solidFill>
          <a:ln>
            <a:noFill/>
          </a:ln>
          <a:effectLst>
            <a:outerShdw blurRad="1270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2468880" y="1325880"/>
            <a:ext cx="1993392" cy="64008"/>
          </a:xfrm>
          <a:prstGeom prst="rect">
            <a:avLst/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" name="Google Shape;19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6040" y="150876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5"/>
          <p:cNvSpPr/>
          <p:nvPr/>
        </p:nvSpPr>
        <p:spPr>
          <a:xfrm>
            <a:off x="2560320" y="2075688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627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B627"/>
                </a:solidFill>
                <a:latin typeface="Calibri"/>
                <a:ea typeface="Calibri"/>
                <a:cs typeface="Calibri"/>
                <a:sym typeface="Calibri"/>
              </a:rPr>
              <a:t>8–10%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2560320" y="28346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Income Spent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2560320" y="3200400"/>
            <a:ext cx="1783080" cy="27432"/>
          </a:xfrm>
          <a:prstGeom prst="rect">
            <a:avLst/>
          </a:prstGeom>
          <a:solidFill>
            <a:srgbClr val="FFB627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2560320" y="3273552"/>
            <a:ext cx="181051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on energy by low-income families vs 3% for wealthier households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4617725" y="1325876"/>
            <a:ext cx="1993500" cy="2633100"/>
          </a:xfrm>
          <a:prstGeom prst="rect">
            <a:avLst/>
          </a:prstGeom>
          <a:solidFill>
            <a:srgbClr val="111E38"/>
          </a:solidFill>
          <a:ln>
            <a:noFill/>
          </a:ln>
          <a:effectLst>
            <a:outerShdw blurRad="1270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4617720" y="1325880"/>
            <a:ext cx="1993392" cy="64008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50876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5"/>
          <p:cNvSpPr/>
          <p:nvPr/>
        </p:nvSpPr>
        <p:spPr>
          <a:xfrm>
            <a:off x="4709160" y="2075688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B8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D4B8"/>
                </a:solidFill>
                <a:latin typeface="Calibri"/>
                <a:ea typeface="Calibri"/>
                <a:cs typeface="Calibri"/>
                <a:sym typeface="Calibri"/>
              </a:rPr>
              <a:t>3×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4709160" y="28346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Energy Burden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4709160" y="3200400"/>
            <a:ext cx="1783080" cy="27432"/>
          </a:xfrm>
          <a:prstGeom prst="rect">
            <a:avLst/>
          </a:prstGeom>
          <a:solidFill>
            <a:srgbClr val="00D4B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4709160" y="3273552"/>
            <a:ext cx="181051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heavier for low-income vs high-income families — a systemic gap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766550" y="1325876"/>
            <a:ext cx="1993500" cy="2633100"/>
          </a:xfrm>
          <a:prstGeom prst="rect">
            <a:avLst/>
          </a:prstGeom>
          <a:solidFill>
            <a:srgbClr val="111E38"/>
          </a:solidFill>
          <a:ln>
            <a:noFill/>
          </a:ln>
          <a:effectLst>
            <a:outerShdw blurRad="1270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6766560" y="1325880"/>
            <a:ext cx="1993392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03720" y="150876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"/>
          <p:cNvSpPr/>
          <p:nvPr/>
        </p:nvSpPr>
        <p:spPr>
          <a:xfrm>
            <a:off x="6858000" y="2075688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$9.4B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6858000" y="28346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Annual Gap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6858000" y="3200400"/>
            <a:ext cx="1783080" cy="27432"/>
          </a:xfrm>
          <a:prstGeom prst="rect">
            <a:avLst/>
          </a:prstGeom>
          <a:solidFill>
            <a:srgbClr val="8B5CF6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6858000" y="3273552"/>
            <a:ext cx="181051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in federal assistance vs actual household energy need in the 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365760" y="4114800"/>
            <a:ext cx="8412600" cy="749700"/>
          </a:xfrm>
          <a:prstGeom prst="rect">
            <a:avLst/>
          </a:prstGeom>
          <a:solidFill>
            <a:srgbClr val="12204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Despite the data, there is NO unified, city-level tool that tells policymakers: who is at risk, why, and what to do    about it.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365760" y="4114800"/>
            <a:ext cx="54900" cy="7497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E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D4B8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GridWatch in Theory — How It Works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365760" y="1261872"/>
            <a:ext cx="8412480" cy="658368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365760" y="1261872"/>
            <a:ext cx="73152" cy="658368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548640" y="1298448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DF5"/>
                </a:solidFill>
                <a:latin typeface="Calibri"/>
                <a:ea typeface="Calibri"/>
                <a:cs typeface="Calibri"/>
                <a:sym typeface="Calibri"/>
              </a:rPr>
              <a:t>GridWatch is a 3-layer AI pipeline: a machine learning model predicts risk, a SHAP layer explains it, and a RAG-powered LLM translates it into actionable policy recommendations for any California city.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320040" y="2057400"/>
            <a:ext cx="2724912" cy="2834640"/>
          </a:xfrm>
          <a:prstGeom prst="rect">
            <a:avLst/>
          </a:prstGeom>
          <a:solidFill>
            <a:srgbClr val="111E38"/>
          </a:solidFill>
          <a:ln>
            <a:noFill/>
          </a:ln>
          <a:effectLst>
            <a:outerShdw blurRad="1270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320040" y="2057400"/>
            <a:ext cx="2724912" cy="54864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457200" y="2148840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457200" y="2633472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 RISK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457200" y="2944368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Who is at risk?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457200" y="3264408"/>
            <a:ext cx="2450592" cy="27432"/>
          </a:xfrm>
          <a:prstGeom prst="rect">
            <a:avLst/>
          </a:prstGeom>
          <a:solidFill>
            <a:srgbClr val="FF475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475488" y="3364992"/>
            <a:ext cx="128016" cy="128016"/>
          </a:xfrm>
          <a:prstGeom prst="ellipse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667512" y="3319272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Input: income, energy costs, temperature forecasts, energy burden 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475488" y="3749040"/>
            <a:ext cx="128016" cy="128016"/>
          </a:xfrm>
          <a:prstGeom prst="ellipse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667512" y="370332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XGBoost ML model trained on historical California city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75488" y="4133088"/>
            <a:ext cx="128016" cy="128016"/>
          </a:xfrm>
          <a:prstGeom prst="ellipse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667512" y="4087368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Output: HIGH / LOW risk classification with probability score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475488" y="4517136"/>
            <a:ext cx="128016" cy="128016"/>
          </a:xfrm>
          <a:prstGeom prst="ellipse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667512" y="4471416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Covers all major California cities updated with real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3200400" y="2057400"/>
            <a:ext cx="2724912" cy="2834640"/>
          </a:xfrm>
          <a:prstGeom prst="rect">
            <a:avLst/>
          </a:prstGeom>
          <a:solidFill>
            <a:srgbClr val="111E38"/>
          </a:solidFill>
          <a:ln>
            <a:noFill/>
          </a:ln>
          <a:effectLst>
            <a:outerShdw blurRad="1270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3200400" y="2057400"/>
            <a:ext cx="2724912" cy="54864"/>
          </a:xfrm>
          <a:prstGeom prst="rect">
            <a:avLst/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3337560" y="2148840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62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B627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3337560" y="2633472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EXPLAIN WHY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3337560" y="2944368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627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FB627"/>
                </a:solidFill>
                <a:latin typeface="Calibri"/>
                <a:ea typeface="Calibri"/>
                <a:cs typeface="Calibri"/>
                <a:sym typeface="Calibri"/>
              </a:rPr>
              <a:t>Why are they at risk?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3337560" y="3264408"/>
            <a:ext cx="2450592" cy="27432"/>
          </a:xfrm>
          <a:prstGeom prst="rect">
            <a:avLst/>
          </a:prstGeom>
          <a:solidFill>
            <a:srgbClr val="FFB62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3355848" y="3364992"/>
            <a:ext cx="128016" cy="128016"/>
          </a:xfrm>
          <a:prstGeom prst="ellipse">
            <a:avLst/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3547872" y="3319272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SHAP (SHapley Additive exPlanations) runs on every prediction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3355848" y="3749040"/>
            <a:ext cx="128016" cy="128016"/>
          </a:xfrm>
          <a:prstGeom prst="ellipse">
            <a:avLst/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3547872" y="370332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Breaks the black box: shows each feature's exact contribution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3355848" y="4133088"/>
            <a:ext cx="128016" cy="128016"/>
          </a:xfrm>
          <a:prstGeom prst="ellipse">
            <a:avLst/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6"/>
          <p:cNvSpPr/>
          <p:nvPr/>
        </p:nvSpPr>
        <p:spPr>
          <a:xfrm>
            <a:off x="3547872" y="4087368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Visual bar chart: income contributes 0.30, temp 0.19, etc.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3355848" y="4517136"/>
            <a:ext cx="128016" cy="128016"/>
          </a:xfrm>
          <a:prstGeom prst="ellipse">
            <a:avLst/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"/>
          <p:cNvSpPr/>
          <p:nvPr/>
        </p:nvSpPr>
        <p:spPr>
          <a:xfrm>
            <a:off x="3547872" y="4471416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Makes the AI defensible and auditable for policymakers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6080760" y="2057400"/>
            <a:ext cx="2724912" cy="2834640"/>
          </a:xfrm>
          <a:prstGeom prst="rect">
            <a:avLst/>
          </a:prstGeom>
          <a:solidFill>
            <a:srgbClr val="111E38"/>
          </a:solidFill>
          <a:ln>
            <a:noFill/>
          </a:ln>
          <a:effectLst>
            <a:outerShdw blurRad="1270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6"/>
          <p:cNvSpPr/>
          <p:nvPr/>
        </p:nvSpPr>
        <p:spPr>
          <a:xfrm>
            <a:off x="6080760" y="2057400"/>
            <a:ext cx="2724912" cy="54864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"/>
          <p:cNvSpPr/>
          <p:nvPr/>
        </p:nvSpPr>
        <p:spPr>
          <a:xfrm>
            <a:off x="6217920" y="2148840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B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D4B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6217920" y="2633472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 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6217920" y="2944368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B8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00D4B8"/>
                </a:solidFill>
                <a:latin typeface="Calibri"/>
                <a:ea typeface="Calibri"/>
                <a:cs typeface="Calibri"/>
                <a:sym typeface="Calibri"/>
              </a:rPr>
              <a:t>What should be done?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6217920" y="3264408"/>
            <a:ext cx="2450592" cy="27432"/>
          </a:xfrm>
          <a:prstGeom prst="rect">
            <a:avLst/>
          </a:prstGeom>
          <a:solidFill>
            <a:srgbClr val="00D4B8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6"/>
          <p:cNvSpPr/>
          <p:nvPr/>
        </p:nvSpPr>
        <p:spPr>
          <a:xfrm>
            <a:off x="6236208" y="3364992"/>
            <a:ext cx="128016" cy="128016"/>
          </a:xfrm>
          <a:prstGeom prst="ellipse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6"/>
          <p:cNvSpPr/>
          <p:nvPr/>
        </p:nvSpPr>
        <p:spPr>
          <a:xfrm>
            <a:off x="6428232" y="3319272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4 policy documents loaded: LIHEAP, CARE/FERA, ESA, WAP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6236208" y="3749040"/>
            <a:ext cx="128016" cy="128016"/>
          </a:xfrm>
          <a:prstGeom prst="ellipse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6428232" y="370332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RAG retrieves relevant policy chunks using semantic search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6236208" y="4133088"/>
            <a:ext cx="128016" cy="128016"/>
          </a:xfrm>
          <a:prstGeom prst="ellipse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6"/>
          <p:cNvSpPr/>
          <p:nvPr/>
        </p:nvSpPr>
        <p:spPr>
          <a:xfrm>
            <a:off x="6428232" y="4087368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LLM reasons step-by-step using retrieved context only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6236208" y="4517136"/>
            <a:ext cx="128016" cy="128016"/>
          </a:xfrm>
          <a:prstGeom prst="ellipse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"/>
          <p:cNvSpPr/>
          <p:nvPr/>
        </p:nvSpPr>
        <p:spPr>
          <a:xfrm>
            <a:off x="6428232" y="4471416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Outputs city-specific program matches with eligibility info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7"/>
          <p:cNvSpPr/>
          <p:nvPr/>
        </p:nvSpPr>
        <p:spPr>
          <a:xfrm>
            <a:off x="457200" y="22860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B1"/>
                </a:solidFill>
                <a:latin typeface="Calibri"/>
                <a:ea typeface="Calibri"/>
                <a:cs typeface="Calibri"/>
                <a:sym typeface="Calibri"/>
              </a:rPr>
              <a:t>GEN AI STACK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457200" y="59436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Models &amp; Technology Used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365760" y="1417320"/>
            <a:ext cx="4069200" cy="1600200"/>
          </a:xfrm>
          <a:prstGeom prst="rect">
            <a:avLst/>
          </a:prstGeom>
          <a:solidFill>
            <a:srgbClr val="1522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365760" y="1417320"/>
            <a:ext cx="54900" cy="160020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2" name="Google Shape;2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153619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7"/>
          <p:cNvSpPr/>
          <p:nvPr/>
        </p:nvSpPr>
        <p:spPr>
          <a:xfrm>
            <a:off x="1024128" y="1508760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4855"/>
                </a:solidFill>
                <a:latin typeface="Calibri"/>
                <a:ea typeface="Calibri"/>
                <a:cs typeface="Calibri"/>
                <a:sym typeface="Calibri"/>
              </a:rPr>
              <a:t>ML PREDICTION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1024128" y="1764792"/>
            <a:ext cx="329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1024128" y="2093976"/>
            <a:ext cx="329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Risk Classification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530352" y="2368296"/>
            <a:ext cx="3794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Trained on California city-level data to classify HIGH / LOW energy poverty risk. Produces interpretable probability scores.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4754880" y="1417320"/>
            <a:ext cx="4069200" cy="1600200"/>
          </a:xfrm>
          <a:prstGeom prst="rect">
            <a:avLst/>
          </a:prstGeom>
          <a:solidFill>
            <a:srgbClr val="1522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4754880" y="1417320"/>
            <a:ext cx="54900" cy="1600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9" name="Google Shape;28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9472" y="153619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7"/>
          <p:cNvSpPr/>
          <p:nvPr/>
        </p:nvSpPr>
        <p:spPr>
          <a:xfrm>
            <a:off x="5413248" y="1508760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EXPLAINABILITY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5413248" y="1764792"/>
            <a:ext cx="329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SHAP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5413248" y="2093976"/>
            <a:ext cx="329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SHapley Additive exPlanations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4919472" y="2368296"/>
            <a:ext cx="3794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Opens the black box — breaks down each prediction into per-feature contribution values so every result is transparent and defensible.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365760" y="3246120"/>
            <a:ext cx="4069200" cy="1600200"/>
          </a:xfrm>
          <a:prstGeom prst="rect">
            <a:avLst/>
          </a:prstGeom>
          <a:solidFill>
            <a:srgbClr val="1522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"/>
          <p:cNvSpPr/>
          <p:nvPr/>
        </p:nvSpPr>
        <p:spPr>
          <a:xfrm>
            <a:off x="365760" y="3246120"/>
            <a:ext cx="54900" cy="16002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6" name="Google Shape;29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352" y="336499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7"/>
          <p:cNvSpPr/>
          <p:nvPr/>
        </p:nvSpPr>
        <p:spPr>
          <a:xfrm>
            <a:off x="1024128" y="3337560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9B1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1024128" y="3593592"/>
            <a:ext cx="329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Pipeline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1024128" y="3922776"/>
            <a:ext cx="329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Sentence-Transformers + FAISS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530352" y="4197096"/>
            <a:ext cx="3794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Embeds policy documents (LIHEAP, CARE/FERA, ESA, WAP) into a vector index. Retrieves top-k relevant chunks before generating answers.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4754880" y="3246120"/>
            <a:ext cx="4069200" cy="1600200"/>
          </a:xfrm>
          <a:prstGeom prst="rect">
            <a:avLst/>
          </a:prstGeom>
          <a:solidFill>
            <a:srgbClr val="1522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4754880" y="3246120"/>
            <a:ext cx="54900" cy="1600200"/>
          </a:xfrm>
          <a:prstGeom prst="rect">
            <a:avLst/>
          </a:prstGeom>
          <a:solidFill>
            <a:srgbClr val="7C6F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19472" y="336499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7"/>
          <p:cNvSpPr/>
          <p:nvPr/>
        </p:nvSpPr>
        <p:spPr>
          <a:xfrm>
            <a:off x="5413248" y="3337560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FC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C6FCD"/>
                </a:solidFill>
                <a:latin typeface="Calibri"/>
                <a:ea typeface="Calibri"/>
                <a:cs typeface="Calibri"/>
                <a:sym typeface="Calibri"/>
              </a:rPr>
              <a:t>GENERATION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5413248" y="3593592"/>
            <a:ext cx="329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/ GPT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5413248" y="3922776"/>
            <a:ext cx="329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Chain-of-Thought Reasoning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4919472" y="4197096"/>
            <a:ext cx="3794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LLM reasons step-by-step using retrieved policy chunks — not general knowledge. Shows its logic and cites sources in every response.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E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GridWatch Is Built 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320040" y="1325880"/>
            <a:ext cx="4069080" cy="384048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320040" y="1325880"/>
            <a:ext cx="4069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F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80F1E"/>
                </a:solidFill>
                <a:latin typeface="Calibri"/>
                <a:ea typeface="Calibri"/>
                <a:cs typeface="Calibri"/>
                <a:sym typeface="Calibri"/>
              </a:rPr>
              <a:t>📊  FEATURE DATASETS  (ML Model Inputs)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320040" y="1828800"/>
            <a:ext cx="4069080" cy="640080"/>
          </a:xfrm>
          <a:prstGeom prst="rect">
            <a:avLst/>
          </a:prstGeom>
          <a:solidFill>
            <a:srgbClr val="111E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320040" y="1828800"/>
            <a:ext cx="64008" cy="640080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475488" y="1874520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 Census Bureau (ACS)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475488" y="2103120"/>
            <a:ext cx="3794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D4B8"/>
                </a:solidFill>
                <a:latin typeface="Calibri"/>
                <a:ea typeface="Calibri"/>
                <a:cs typeface="Calibri"/>
                <a:sym typeface="Calibri"/>
              </a:rPr>
              <a:t>Feature: Median Household Income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475488" y="2267712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Primary risk driver — drives SHAP score highest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320040" y="2542032"/>
            <a:ext cx="4069080" cy="640080"/>
          </a:xfrm>
          <a:prstGeom prst="rect">
            <a:avLst/>
          </a:prstGeom>
          <a:solidFill>
            <a:srgbClr val="111E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320040" y="2542032"/>
            <a:ext cx="64008" cy="640080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475488" y="258775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EIA — Energy Info. Administration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475488" y="2816352"/>
            <a:ext cx="3794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D4B8"/>
                </a:solidFill>
                <a:latin typeface="Calibri"/>
                <a:ea typeface="Calibri"/>
                <a:cs typeface="Calibri"/>
                <a:sym typeface="Calibri"/>
              </a:rPr>
              <a:t>Feature: Avg. Residential Energy Costs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475488" y="2980944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Monthly $/kWh by California utility zone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320040" y="3255264"/>
            <a:ext cx="4069080" cy="640080"/>
          </a:xfrm>
          <a:prstGeom prst="rect">
            <a:avLst/>
          </a:prstGeom>
          <a:solidFill>
            <a:srgbClr val="111E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320040" y="3255264"/>
            <a:ext cx="64008" cy="640080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475488" y="3300984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NOAA / Open-Meteo 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475488" y="3529584"/>
            <a:ext cx="3794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D4B8"/>
                </a:solidFill>
                <a:latin typeface="Calibri"/>
                <a:ea typeface="Calibri"/>
                <a:cs typeface="Calibri"/>
                <a:sym typeface="Calibri"/>
              </a:rPr>
              <a:t>Feature: Min / Max Temperature Forecasts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475488" y="3694176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Seasonal demand spikes — heating &amp; cooling load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320040" y="3968496"/>
            <a:ext cx="4069080" cy="640080"/>
          </a:xfrm>
          <a:prstGeom prst="rect">
            <a:avLst/>
          </a:prstGeom>
          <a:solidFill>
            <a:srgbClr val="111E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320040" y="3968496"/>
            <a:ext cx="64008" cy="640080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475488" y="4014216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ACEEE / DOE Reports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475488" y="4242816"/>
            <a:ext cx="3794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D4B8"/>
                </a:solidFill>
                <a:latin typeface="Calibri"/>
                <a:ea typeface="Calibri"/>
                <a:cs typeface="Calibri"/>
                <a:sym typeface="Calibri"/>
              </a:rPr>
              <a:t>Feature: Energy Burden Percentage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475488" y="4407408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% of income spent on energy bills historically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4754880" y="1325880"/>
            <a:ext cx="4069080" cy="384048"/>
          </a:xfrm>
          <a:prstGeom prst="rect">
            <a:avLst/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8"/>
          <p:cNvSpPr/>
          <p:nvPr/>
        </p:nvSpPr>
        <p:spPr>
          <a:xfrm>
            <a:off x="4754880" y="1325880"/>
            <a:ext cx="4069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F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80F1E"/>
                </a:solidFill>
                <a:latin typeface="Calibri"/>
                <a:ea typeface="Calibri"/>
                <a:cs typeface="Calibri"/>
                <a:sym typeface="Calibri"/>
              </a:rPr>
              <a:t>📄  POLICY DOCUMENTS  (RAG Knowledge Base)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4754880" y="1828800"/>
            <a:ext cx="4069080" cy="640080"/>
          </a:xfrm>
          <a:prstGeom prst="rect">
            <a:avLst/>
          </a:prstGeom>
          <a:solidFill>
            <a:srgbClr val="111E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4754880" y="1828800"/>
            <a:ext cx="64008" cy="640080"/>
          </a:xfrm>
          <a:prstGeom prst="rect">
            <a:avLst/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4910328" y="1874520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LIHEAP Program Guidelines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4910328" y="2103120"/>
            <a:ext cx="3794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62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B627"/>
                </a:solidFill>
                <a:latin typeface="Calibri"/>
                <a:ea typeface="Calibri"/>
                <a:cs typeface="Calibri"/>
                <a:sym typeface="Calibri"/>
              </a:rPr>
              <a:t>Federal low-income heating &amp; cooling assistance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4910328" y="2267712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Income thresholds, benefit amounts, eligibility rules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4754880" y="2542032"/>
            <a:ext cx="4069080" cy="640080"/>
          </a:xfrm>
          <a:prstGeom prst="rect">
            <a:avLst/>
          </a:prstGeom>
          <a:solidFill>
            <a:srgbClr val="111E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4754880" y="2542032"/>
            <a:ext cx="64008" cy="640080"/>
          </a:xfrm>
          <a:prstGeom prst="rect">
            <a:avLst/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4910328" y="258775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CARE / FERA Program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4910328" y="2816352"/>
            <a:ext cx="3794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62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B627"/>
                </a:solidFill>
                <a:latin typeface="Calibri"/>
                <a:ea typeface="Calibri"/>
                <a:cs typeface="Calibri"/>
                <a:sym typeface="Calibri"/>
              </a:rPr>
              <a:t>California utility discount programs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4910328" y="2980944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20-30% bill discount, income eligibility by household size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4754880" y="3255264"/>
            <a:ext cx="4069080" cy="640080"/>
          </a:xfrm>
          <a:prstGeom prst="rect">
            <a:avLst/>
          </a:prstGeom>
          <a:solidFill>
            <a:srgbClr val="111E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4754880" y="3255264"/>
            <a:ext cx="64008" cy="640080"/>
          </a:xfrm>
          <a:prstGeom prst="rect">
            <a:avLst/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4910328" y="3300984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ESA Program Rules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4910328" y="3529584"/>
            <a:ext cx="3794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62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B627"/>
                </a:solidFill>
                <a:latin typeface="Calibri"/>
                <a:ea typeface="Calibri"/>
                <a:cs typeface="Calibri"/>
                <a:sym typeface="Calibri"/>
              </a:rPr>
              <a:t>Energy Savings Assistance (PG&amp;E / SCE / SDG&amp;E)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4910328" y="3694176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Free weatherization, appliance replacement for low-income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4754880" y="3968496"/>
            <a:ext cx="4069080" cy="640080"/>
          </a:xfrm>
          <a:prstGeom prst="rect">
            <a:avLst/>
          </a:prstGeom>
          <a:solidFill>
            <a:srgbClr val="111E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8"/>
          <p:cNvSpPr/>
          <p:nvPr/>
        </p:nvSpPr>
        <p:spPr>
          <a:xfrm>
            <a:off x="4754880" y="3968496"/>
            <a:ext cx="64008" cy="640080"/>
          </a:xfrm>
          <a:prstGeom prst="rect">
            <a:avLst/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8"/>
          <p:cNvSpPr/>
          <p:nvPr/>
        </p:nvSpPr>
        <p:spPr>
          <a:xfrm>
            <a:off x="4910328" y="4014216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WAP — Weatherization Assist.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4910328" y="4242816"/>
            <a:ext cx="3794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62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B627"/>
                </a:solidFill>
                <a:latin typeface="Calibri"/>
                <a:ea typeface="Calibri"/>
                <a:cs typeface="Calibri"/>
                <a:sym typeface="Calibri"/>
              </a:rPr>
              <a:t>DOE weatherization for low-income homes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4910328" y="4407408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Insulation, HVAC upgrades, avg $7,000/home investment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E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THE PROCESS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Raw Data to Final Product — The Full Pipeline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320040" y="1325880"/>
            <a:ext cx="2697480" cy="1719072"/>
          </a:xfrm>
          <a:prstGeom prst="rect">
            <a:avLst/>
          </a:prstGeom>
          <a:solidFill>
            <a:srgbClr val="111E38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320040" y="1325880"/>
            <a:ext cx="26974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9"/>
          <p:cNvSpPr/>
          <p:nvPr/>
        </p:nvSpPr>
        <p:spPr>
          <a:xfrm>
            <a:off x="457200" y="1435608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457200" y="143560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F1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80F1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960120" y="146304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457200" y="1911096"/>
            <a:ext cx="2423160" cy="27432"/>
          </a:xfrm>
          <a:prstGeom prst="rect">
            <a:avLst/>
          </a:prstGeom>
          <a:solidFill>
            <a:srgbClr val="3B82F6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475488" y="2020824"/>
            <a:ext cx="73152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621792" y="1993392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Pull Census income data via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475488" y="2276856"/>
            <a:ext cx="73152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621792" y="2249424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Fetch EIA energy prices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475488" y="2532888"/>
            <a:ext cx="73152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621792" y="2505456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Query NOAA temp forecasts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475488" y="2788920"/>
            <a:ext cx="73152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621792" y="2761488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Scrape ACEEE burden rates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3035808" y="196596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3200400" y="1325880"/>
            <a:ext cx="2697480" cy="1719072"/>
          </a:xfrm>
          <a:prstGeom prst="rect">
            <a:avLst/>
          </a:prstGeom>
          <a:solidFill>
            <a:srgbClr val="111E38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3200400" y="1325880"/>
            <a:ext cx="2697480" cy="45720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9"/>
          <p:cNvSpPr/>
          <p:nvPr/>
        </p:nvSpPr>
        <p:spPr>
          <a:xfrm>
            <a:off x="3337560" y="1435608"/>
            <a:ext cx="411480" cy="411480"/>
          </a:xfrm>
          <a:prstGeom prst="ellipse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9"/>
          <p:cNvSpPr/>
          <p:nvPr/>
        </p:nvSpPr>
        <p:spPr>
          <a:xfrm>
            <a:off x="3337560" y="143560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F1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80F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3840480" y="146304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Processing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3337560" y="1911096"/>
            <a:ext cx="2423160" cy="27432"/>
          </a:xfrm>
          <a:prstGeom prst="rect">
            <a:avLst/>
          </a:prstGeom>
          <a:solidFill>
            <a:srgbClr val="00D4B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9"/>
          <p:cNvSpPr/>
          <p:nvPr/>
        </p:nvSpPr>
        <p:spPr>
          <a:xfrm>
            <a:off x="3355848" y="2020824"/>
            <a:ext cx="73152" cy="118872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9"/>
          <p:cNvSpPr/>
          <p:nvPr/>
        </p:nvSpPr>
        <p:spPr>
          <a:xfrm>
            <a:off x="3502152" y="1993392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Merge all sources by 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3355848" y="2276856"/>
            <a:ext cx="73152" cy="118872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9"/>
          <p:cNvSpPr/>
          <p:nvPr/>
        </p:nvSpPr>
        <p:spPr>
          <a:xfrm>
            <a:off x="3502152" y="2249424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Handle missing values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3355848" y="2532888"/>
            <a:ext cx="73152" cy="118872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9"/>
          <p:cNvSpPr/>
          <p:nvPr/>
        </p:nvSpPr>
        <p:spPr>
          <a:xfrm>
            <a:off x="3502152" y="2505456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Normalize features (0-1)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3355848" y="2788920"/>
            <a:ext cx="73152" cy="118872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>
            <a:off x="3502152" y="2761488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Label: HIGH/LOW from burden 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5916168" y="196596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D4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6080760" y="1325880"/>
            <a:ext cx="2697480" cy="1719072"/>
          </a:xfrm>
          <a:prstGeom prst="rect">
            <a:avLst/>
          </a:prstGeom>
          <a:solidFill>
            <a:srgbClr val="111E38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6080760" y="1325880"/>
            <a:ext cx="2697480" cy="45720"/>
          </a:xfrm>
          <a:prstGeom prst="rect">
            <a:avLst/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9"/>
          <p:cNvSpPr/>
          <p:nvPr/>
        </p:nvSpPr>
        <p:spPr>
          <a:xfrm>
            <a:off x="6217920" y="1435608"/>
            <a:ext cx="411480" cy="411480"/>
          </a:xfrm>
          <a:prstGeom prst="ellipse">
            <a:avLst/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9"/>
          <p:cNvSpPr/>
          <p:nvPr/>
        </p:nvSpPr>
        <p:spPr>
          <a:xfrm>
            <a:off x="6217920" y="143560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F1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80F1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6720840" y="146304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Training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6217920" y="1911096"/>
            <a:ext cx="2423160" cy="27432"/>
          </a:xfrm>
          <a:prstGeom prst="rect">
            <a:avLst/>
          </a:prstGeom>
          <a:solidFill>
            <a:srgbClr val="FFB627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9"/>
          <p:cNvSpPr/>
          <p:nvPr/>
        </p:nvSpPr>
        <p:spPr>
          <a:xfrm>
            <a:off x="6236208" y="2020824"/>
            <a:ext cx="73152" cy="118872"/>
          </a:xfrm>
          <a:prstGeom prst="rect">
            <a:avLst/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9"/>
          <p:cNvSpPr/>
          <p:nvPr/>
        </p:nvSpPr>
        <p:spPr>
          <a:xfrm>
            <a:off x="6382512" y="1993392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Train XGBoost on labeled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6236208" y="2276856"/>
            <a:ext cx="73152" cy="118872"/>
          </a:xfrm>
          <a:prstGeom prst="rect">
            <a:avLst/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9"/>
          <p:cNvSpPr/>
          <p:nvPr/>
        </p:nvSpPr>
        <p:spPr>
          <a:xfrm>
            <a:off x="6382512" y="2249424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Cross-validate (k-fold)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6236208" y="2532888"/>
            <a:ext cx="73152" cy="118872"/>
          </a:xfrm>
          <a:prstGeom prst="rect">
            <a:avLst/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"/>
          <p:cNvSpPr/>
          <p:nvPr/>
        </p:nvSpPr>
        <p:spPr>
          <a:xfrm>
            <a:off x="6382512" y="2505456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Tune hyperparameters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6236208" y="2788920"/>
            <a:ext cx="73152" cy="118872"/>
          </a:xfrm>
          <a:prstGeom prst="rect">
            <a:avLst/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9"/>
          <p:cNvSpPr/>
          <p:nvPr/>
        </p:nvSpPr>
        <p:spPr>
          <a:xfrm>
            <a:off x="6382512" y="2761488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Evaluate: accuracy, F1 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320040" y="3200400"/>
            <a:ext cx="2697480" cy="1719072"/>
          </a:xfrm>
          <a:prstGeom prst="rect">
            <a:avLst/>
          </a:prstGeom>
          <a:solidFill>
            <a:srgbClr val="111E38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9"/>
          <p:cNvSpPr/>
          <p:nvPr/>
        </p:nvSpPr>
        <p:spPr>
          <a:xfrm>
            <a:off x="320040" y="3200400"/>
            <a:ext cx="26974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9"/>
          <p:cNvSpPr/>
          <p:nvPr/>
        </p:nvSpPr>
        <p:spPr>
          <a:xfrm>
            <a:off x="457200" y="3310128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9"/>
          <p:cNvSpPr/>
          <p:nvPr/>
        </p:nvSpPr>
        <p:spPr>
          <a:xfrm>
            <a:off x="457200" y="33101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F1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80F1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960120" y="333756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Pipeline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457200" y="3785616"/>
            <a:ext cx="2423160" cy="27432"/>
          </a:xfrm>
          <a:prstGeom prst="rect">
            <a:avLst/>
          </a:prstGeom>
          <a:solidFill>
            <a:srgbClr val="8B5CF6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9"/>
          <p:cNvSpPr/>
          <p:nvPr/>
        </p:nvSpPr>
        <p:spPr>
          <a:xfrm>
            <a:off x="475488" y="3895344"/>
            <a:ext cx="73152" cy="1188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9"/>
          <p:cNvSpPr/>
          <p:nvPr/>
        </p:nvSpPr>
        <p:spPr>
          <a:xfrm>
            <a:off x="621792" y="3867912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Load 4 PDF policy docs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475488" y="4151376"/>
            <a:ext cx="73152" cy="1188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9"/>
          <p:cNvSpPr/>
          <p:nvPr/>
        </p:nvSpPr>
        <p:spPr>
          <a:xfrm>
            <a:off x="621792" y="4123944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Chunk into ~500-word segments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475488" y="4407408"/>
            <a:ext cx="73152" cy="1188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9"/>
          <p:cNvSpPr/>
          <p:nvPr/>
        </p:nvSpPr>
        <p:spPr>
          <a:xfrm>
            <a:off x="621792" y="4379976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Embed with Sentence-Transformers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475488" y="4663440"/>
            <a:ext cx="73152" cy="1188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9"/>
          <p:cNvSpPr/>
          <p:nvPr/>
        </p:nvSpPr>
        <p:spPr>
          <a:xfrm>
            <a:off x="621792" y="4636008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Index with FAISS vector store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9"/>
          <p:cNvSpPr/>
          <p:nvPr/>
        </p:nvSpPr>
        <p:spPr>
          <a:xfrm>
            <a:off x="3035808" y="38404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3200400" y="3200400"/>
            <a:ext cx="2697480" cy="1719072"/>
          </a:xfrm>
          <a:prstGeom prst="rect">
            <a:avLst/>
          </a:prstGeom>
          <a:solidFill>
            <a:srgbClr val="111E38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9"/>
          <p:cNvSpPr/>
          <p:nvPr/>
        </p:nvSpPr>
        <p:spPr>
          <a:xfrm>
            <a:off x="3200400" y="3200400"/>
            <a:ext cx="2697480" cy="4572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9"/>
          <p:cNvSpPr/>
          <p:nvPr/>
        </p:nvSpPr>
        <p:spPr>
          <a:xfrm>
            <a:off x="3337560" y="3310128"/>
            <a:ext cx="411480" cy="411480"/>
          </a:xfrm>
          <a:prstGeom prst="ellipse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3337560" y="33101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F1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80F1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3840480" y="333756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Integration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3337560" y="3785616"/>
            <a:ext cx="2423160" cy="27432"/>
          </a:xfrm>
          <a:prstGeom prst="rect">
            <a:avLst/>
          </a:prstGeom>
          <a:solidFill>
            <a:srgbClr val="FF4757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9"/>
          <p:cNvSpPr/>
          <p:nvPr/>
        </p:nvSpPr>
        <p:spPr>
          <a:xfrm>
            <a:off x="3355848" y="3895344"/>
            <a:ext cx="73152" cy="118872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9"/>
          <p:cNvSpPr/>
          <p:nvPr/>
        </p:nvSpPr>
        <p:spPr>
          <a:xfrm>
            <a:off x="3502152" y="3867912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Build chain-of-thought prompt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3355848" y="4151376"/>
            <a:ext cx="73152" cy="118872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9"/>
          <p:cNvSpPr/>
          <p:nvPr/>
        </p:nvSpPr>
        <p:spPr>
          <a:xfrm>
            <a:off x="3502152" y="4123944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Connect retriever to LLM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9"/>
          <p:cNvSpPr/>
          <p:nvPr/>
        </p:nvSpPr>
        <p:spPr>
          <a:xfrm>
            <a:off x="3355848" y="4407408"/>
            <a:ext cx="73152" cy="118872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9"/>
          <p:cNvSpPr/>
          <p:nvPr/>
        </p:nvSpPr>
        <p:spPr>
          <a:xfrm>
            <a:off x="3502152" y="4379976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Add city risk context to prompt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9"/>
          <p:cNvSpPr/>
          <p:nvPr/>
        </p:nvSpPr>
        <p:spPr>
          <a:xfrm>
            <a:off x="3355848" y="4663440"/>
            <a:ext cx="73152" cy="118872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9"/>
          <p:cNvSpPr/>
          <p:nvPr/>
        </p:nvSpPr>
        <p:spPr>
          <a:xfrm>
            <a:off x="3502152" y="4636008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Enable multi-turn chat memory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9"/>
          <p:cNvSpPr/>
          <p:nvPr/>
        </p:nvSpPr>
        <p:spPr>
          <a:xfrm>
            <a:off x="5916168" y="38404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9"/>
          <p:cNvSpPr/>
          <p:nvPr/>
        </p:nvSpPr>
        <p:spPr>
          <a:xfrm>
            <a:off x="6080760" y="3200400"/>
            <a:ext cx="2697480" cy="1719072"/>
          </a:xfrm>
          <a:prstGeom prst="rect">
            <a:avLst/>
          </a:prstGeom>
          <a:solidFill>
            <a:srgbClr val="111E38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9"/>
          <p:cNvSpPr/>
          <p:nvPr/>
        </p:nvSpPr>
        <p:spPr>
          <a:xfrm>
            <a:off x="6080760" y="3200400"/>
            <a:ext cx="26974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9"/>
          <p:cNvSpPr/>
          <p:nvPr/>
        </p:nvSpPr>
        <p:spPr>
          <a:xfrm>
            <a:off x="6217920" y="3310128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9"/>
          <p:cNvSpPr/>
          <p:nvPr/>
        </p:nvSpPr>
        <p:spPr>
          <a:xfrm>
            <a:off x="6217920" y="33101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F1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80F1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9"/>
          <p:cNvSpPr/>
          <p:nvPr/>
        </p:nvSpPr>
        <p:spPr>
          <a:xfrm>
            <a:off x="6720840" y="333756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Streamlit App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9"/>
          <p:cNvSpPr/>
          <p:nvPr/>
        </p:nvSpPr>
        <p:spPr>
          <a:xfrm>
            <a:off x="6217920" y="3785616"/>
            <a:ext cx="2423160" cy="27432"/>
          </a:xfrm>
          <a:prstGeom prst="rect">
            <a:avLst/>
          </a:prstGeom>
          <a:solidFill>
            <a:srgbClr val="10B98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9"/>
          <p:cNvSpPr/>
          <p:nvPr/>
        </p:nvSpPr>
        <p:spPr>
          <a:xfrm>
            <a:off x="6236208" y="3895344"/>
            <a:ext cx="73152" cy="1188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9"/>
          <p:cNvSpPr/>
          <p:nvPr/>
        </p:nvSpPr>
        <p:spPr>
          <a:xfrm>
            <a:off x="6382512" y="3867912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City dropdown → risk prediction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9"/>
          <p:cNvSpPr/>
          <p:nvPr/>
        </p:nvSpPr>
        <p:spPr>
          <a:xfrm>
            <a:off x="6236208" y="4151376"/>
            <a:ext cx="73152" cy="1188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9"/>
          <p:cNvSpPr/>
          <p:nvPr/>
        </p:nvSpPr>
        <p:spPr>
          <a:xfrm>
            <a:off x="6382512" y="4123944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SHAP bar chart displayed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9"/>
          <p:cNvSpPr/>
          <p:nvPr/>
        </p:nvSpPr>
        <p:spPr>
          <a:xfrm>
            <a:off x="6236208" y="4407408"/>
            <a:ext cx="73152" cy="1188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9"/>
          <p:cNvSpPr/>
          <p:nvPr/>
        </p:nvSpPr>
        <p:spPr>
          <a:xfrm>
            <a:off x="6382512" y="4379976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Policy Q&amp;A chat interface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9"/>
          <p:cNvSpPr/>
          <p:nvPr/>
        </p:nvSpPr>
        <p:spPr>
          <a:xfrm>
            <a:off x="6236208" y="4663440"/>
            <a:ext cx="73152" cy="1188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9"/>
          <p:cNvSpPr/>
          <p:nvPr/>
        </p:nvSpPr>
        <p:spPr>
          <a:xfrm>
            <a:off x="6382512" y="4636008"/>
            <a:ext cx="23042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E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ECC"/>
                </a:solidFill>
                <a:latin typeface="Calibri"/>
                <a:ea typeface="Calibri"/>
                <a:cs typeface="Calibri"/>
                <a:sym typeface="Calibri"/>
              </a:rPr>
              <a:t>Research dashboard + eval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E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0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D4B8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0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All Layers Connect Together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0"/>
          <p:cNvSpPr/>
          <p:nvPr/>
        </p:nvSpPr>
        <p:spPr>
          <a:xfrm>
            <a:off x="1371600" y="1325880"/>
            <a:ext cx="6400800" cy="594360"/>
          </a:xfrm>
          <a:prstGeom prst="rect">
            <a:avLst/>
          </a:prstGeom>
          <a:solidFill>
            <a:srgbClr val="162544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0"/>
          <p:cNvSpPr/>
          <p:nvPr/>
        </p:nvSpPr>
        <p:spPr>
          <a:xfrm>
            <a:off x="1371600" y="1325880"/>
            <a:ext cx="73152" cy="594360"/>
          </a:xfrm>
          <a:prstGeom prst="rect">
            <a:avLst/>
          </a:prstGeom>
          <a:solidFill>
            <a:srgbClr val="7A90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1444752" y="1435608"/>
            <a:ext cx="1828800" cy="365760"/>
          </a:xfrm>
          <a:prstGeom prst="rect">
            <a:avLst/>
          </a:prstGeom>
          <a:solidFill>
            <a:srgbClr val="7A90A8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0"/>
          <p:cNvSpPr/>
          <p:nvPr/>
        </p:nvSpPr>
        <p:spPr>
          <a:xfrm>
            <a:off x="1444752" y="143560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USER 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0"/>
          <p:cNvSpPr/>
          <p:nvPr/>
        </p:nvSpPr>
        <p:spPr>
          <a:xfrm>
            <a:off x="3383280" y="1417320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DF5"/>
                </a:solidFill>
                <a:latin typeface="Calibri"/>
                <a:ea typeface="Calibri"/>
                <a:cs typeface="Calibri"/>
                <a:sym typeface="Calibri"/>
              </a:rPr>
              <a:t>City selection from dropdown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0"/>
          <p:cNvSpPr/>
          <p:nvPr/>
        </p:nvSpPr>
        <p:spPr>
          <a:xfrm>
            <a:off x="4389120" y="1929384"/>
            <a:ext cx="3657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0"/>
          <p:cNvSpPr/>
          <p:nvPr/>
        </p:nvSpPr>
        <p:spPr>
          <a:xfrm>
            <a:off x="1371600" y="2057400"/>
            <a:ext cx="6400800" cy="594360"/>
          </a:xfrm>
          <a:prstGeom prst="rect">
            <a:avLst/>
          </a:prstGeom>
          <a:solidFill>
            <a:srgbClr val="111E38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0"/>
          <p:cNvSpPr/>
          <p:nvPr/>
        </p:nvSpPr>
        <p:spPr>
          <a:xfrm>
            <a:off x="1371600" y="2057400"/>
            <a:ext cx="73152" cy="59436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0"/>
          <p:cNvSpPr/>
          <p:nvPr/>
        </p:nvSpPr>
        <p:spPr>
          <a:xfrm>
            <a:off x="1444752" y="2167128"/>
            <a:ext cx="1828800" cy="365760"/>
          </a:xfrm>
          <a:prstGeom prst="rect">
            <a:avLst/>
          </a:prstGeom>
          <a:solidFill>
            <a:srgbClr val="FF4757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0"/>
          <p:cNvSpPr/>
          <p:nvPr/>
        </p:nvSpPr>
        <p:spPr>
          <a:xfrm>
            <a:off x="1444752" y="216712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ML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3383280" y="2148840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DF5"/>
                </a:solidFill>
                <a:latin typeface="Calibri"/>
                <a:ea typeface="Calibri"/>
                <a:cs typeface="Calibri"/>
                <a:sym typeface="Calibri"/>
              </a:rPr>
              <a:t>XGBoost → risk score + SHAP explanation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0"/>
          <p:cNvSpPr/>
          <p:nvPr/>
        </p:nvSpPr>
        <p:spPr>
          <a:xfrm>
            <a:off x="4389120" y="2660904"/>
            <a:ext cx="3657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0"/>
          <p:cNvSpPr/>
          <p:nvPr/>
        </p:nvSpPr>
        <p:spPr>
          <a:xfrm>
            <a:off x="1371600" y="2788920"/>
            <a:ext cx="6400800" cy="594360"/>
          </a:xfrm>
          <a:prstGeom prst="rect">
            <a:avLst/>
          </a:prstGeom>
          <a:solidFill>
            <a:srgbClr val="111E38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0"/>
          <p:cNvSpPr/>
          <p:nvPr/>
        </p:nvSpPr>
        <p:spPr>
          <a:xfrm>
            <a:off x="1371600" y="2788920"/>
            <a:ext cx="73152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0"/>
          <p:cNvSpPr/>
          <p:nvPr/>
        </p:nvSpPr>
        <p:spPr>
          <a:xfrm>
            <a:off x="1444752" y="2898648"/>
            <a:ext cx="1828800" cy="365760"/>
          </a:xfrm>
          <a:prstGeom prst="rect">
            <a:avLst/>
          </a:prstGeom>
          <a:solidFill>
            <a:srgbClr val="3B82F6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0"/>
          <p:cNvSpPr/>
          <p:nvPr/>
        </p:nvSpPr>
        <p:spPr>
          <a:xfrm>
            <a:off x="1444752" y="289864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RAG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3383280" y="2880360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DF5"/>
                </a:solidFill>
                <a:latin typeface="Calibri"/>
                <a:ea typeface="Calibri"/>
                <a:cs typeface="Calibri"/>
                <a:sym typeface="Calibri"/>
              </a:rPr>
              <a:t>Query → Sentence-Transformers → FAISS → top-k chunks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4389120" y="3392424"/>
            <a:ext cx="3657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1371600" y="3520440"/>
            <a:ext cx="6400800" cy="594360"/>
          </a:xfrm>
          <a:prstGeom prst="rect">
            <a:avLst/>
          </a:prstGeom>
          <a:solidFill>
            <a:srgbClr val="111E38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0"/>
          <p:cNvSpPr/>
          <p:nvPr/>
        </p:nvSpPr>
        <p:spPr>
          <a:xfrm>
            <a:off x="1371600" y="3520440"/>
            <a:ext cx="73152" cy="594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0"/>
          <p:cNvSpPr/>
          <p:nvPr/>
        </p:nvSpPr>
        <p:spPr>
          <a:xfrm>
            <a:off x="1444752" y="3630168"/>
            <a:ext cx="1828800" cy="365760"/>
          </a:xfrm>
          <a:prstGeom prst="rect">
            <a:avLst/>
          </a:prstGeom>
          <a:solidFill>
            <a:srgbClr val="8B5CF6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0"/>
          <p:cNvSpPr/>
          <p:nvPr/>
        </p:nvSpPr>
        <p:spPr>
          <a:xfrm>
            <a:off x="1444752" y="363016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GENERATION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3383280" y="3611880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DF5"/>
                </a:solidFill>
                <a:latin typeface="Calibri"/>
                <a:ea typeface="Calibri"/>
                <a:cs typeface="Calibri"/>
                <a:sym typeface="Calibri"/>
              </a:rPr>
              <a:t>LLM receives city context + policy chunks → answer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4389120" y="4123944"/>
            <a:ext cx="3657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1371600" y="4251960"/>
            <a:ext cx="6400800" cy="594360"/>
          </a:xfrm>
          <a:prstGeom prst="rect">
            <a:avLst/>
          </a:prstGeom>
          <a:solidFill>
            <a:srgbClr val="111E38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0"/>
          <p:cNvSpPr/>
          <p:nvPr/>
        </p:nvSpPr>
        <p:spPr>
          <a:xfrm>
            <a:off x="1371600" y="4251960"/>
            <a:ext cx="73152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0"/>
          <p:cNvSpPr/>
          <p:nvPr/>
        </p:nvSpPr>
        <p:spPr>
          <a:xfrm>
            <a:off x="1444752" y="4361688"/>
            <a:ext cx="1828800" cy="365760"/>
          </a:xfrm>
          <a:prstGeom prst="rect">
            <a:avLst/>
          </a:prstGeom>
          <a:solidFill>
            <a:srgbClr val="10B981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0"/>
          <p:cNvSpPr/>
          <p:nvPr/>
        </p:nvSpPr>
        <p:spPr>
          <a:xfrm>
            <a:off x="1444752" y="436168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UI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3383280" y="4343400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DF5"/>
                </a:solidFill>
                <a:latin typeface="Calibri"/>
                <a:ea typeface="Calibri"/>
                <a:cs typeface="Calibri"/>
                <a:sym typeface="Calibri"/>
              </a:rPr>
              <a:t>Streamlit: risk flag, SHAP chart, chat, eval dashboard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182880" y="1325880"/>
            <a:ext cx="1051560" cy="3657600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0"/>
          <p:cNvSpPr/>
          <p:nvPr/>
        </p:nvSpPr>
        <p:spPr>
          <a:xfrm rot="-5400000">
            <a:off x="182880" y="2286000"/>
            <a:ext cx="1051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A90A8"/>
                </a:solidFill>
                <a:latin typeface="Calibri"/>
                <a:ea typeface="Calibri"/>
                <a:cs typeface="Calibri"/>
                <a:sym typeface="Calibri"/>
              </a:rPr>
              <a:t>DATA FLOW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7909560" y="1325880"/>
            <a:ext cx="1051560" cy="3657600"/>
          </a:xfrm>
          <a:prstGeom prst="rect">
            <a:avLst/>
          </a:prstGeom>
          <a:solidFill>
            <a:srgbClr val="162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0"/>
          <p:cNvSpPr/>
          <p:nvPr/>
        </p:nvSpPr>
        <p:spPr>
          <a:xfrm rot="5400000">
            <a:off x="7909560" y="2286000"/>
            <a:ext cx="1051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D4B8"/>
                </a:solidFill>
                <a:latin typeface="Calibri"/>
                <a:ea typeface="Calibri"/>
                <a:cs typeface="Calibri"/>
                <a:sym typeface="Calibri"/>
              </a:rPr>
              <a:t>RESPONSE 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1"/>
          <p:cNvSpPr/>
          <p:nvPr/>
        </p:nvSpPr>
        <p:spPr>
          <a:xfrm>
            <a:off x="3291840" y="502920"/>
            <a:ext cx="2560320" cy="2560320"/>
          </a:xfrm>
          <a:prstGeom prst="ellipse">
            <a:avLst/>
          </a:prstGeom>
          <a:solidFill>
            <a:srgbClr val="00D4B8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1"/>
          <p:cNvSpPr/>
          <p:nvPr/>
        </p:nvSpPr>
        <p:spPr>
          <a:xfrm>
            <a:off x="3520440" y="731520"/>
            <a:ext cx="2103120" cy="2103120"/>
          </a:xfrm>
          <a:prstGeom prst="ellipse">
            <a:avLst/>
          </a:prstGeom>
          <a:solidFill>
            <a:srgbClr val="00D4B8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1"/>
          <p:cNvSpPr/>
          <p:nvPr/>
        </p:nvSpPr>
        <p:spPr>
          <a:xfrm>
            <a:off x="3749040" y="960120"/>
            <a:ext cx="1645920" cy="1645920"/>
          </a:xfrm>
          <a:prstGeom prst="ellipse">
            <a:avLst/>
          </a:prstGeom>
          <a:solidFill>
            <a:srgbClr val="00D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7" name="Google Shape;507;p11"/>
          <p:cNvPicPr preferRelativeResize="0"/>
          <p:nvPr/>
        </p:nvPicPr>
        <p:blipFill rotWithShape="1">
          <a:blip r:embed="rId3">
            <a:alphaModFix/>
          </a:blip>
          <a:srcRect b="0" l="-6490" r="6490" t="0"/>
          <a:stretch/>
        </p:blipFill>
        <p:spPr>
          <a:xfrm>
            <a:off x="4160525" y="1371605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11"/>
          <p:cNvSpPr/>
          <p:nvPr/>
        </p:nvSpPr>
        <p:spPr>
          <a:xfrm>
            <a:off x="457200" y="32461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1"/>
          <p:cNvSpPr/>
          <p:nvPr/>
        </p:nvSpPr>
        <p:spPr>
          <a:xfrm>
            <a:off x="1051560" y="4270248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1"/>
          <p:cNvSpPr/>
          <p:nvPr/>
        </p:nvSpPr>
        <p:spPr>
          <a:xfrm>
            <a:off x="3794760" y="4270248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1"/>
          <p:cNvSpPr/>
          <p:nvPr/>
        </p:nvSpPr>
        <p:spPr>
          <a:xfrm>
            <a:off x="3794760" y="450799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1"/>
          <p:cNvSpPr/>
          <p:nvPr/>
        </p:nvSpPr>
        <p:spPr>
          <a:xfrm>
            <a:off x="6537960" y="4270248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1"/>
          <p:cNvSpPr/>
          <p:nvPr/>
        </p:nvSpPr>
        <p:spPr>
          <a:xfrm>
            <a:off x="6537960" y="450799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